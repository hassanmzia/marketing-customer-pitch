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Marketing Customer Pitch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383280"/>
            <a:ext cx="3931920" cy="54864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7A2AD"/>
                </a:solidFill>
              </a:defRPr>
            </a:pPr>
            <a:r>
              <a:t>Technical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914400"/>
          </a:xfrm>
          <a:prstGeom prst="roundRect">
            <a:avLst/>
          </a:prstGeom>
          <a:solidFill>
            <a:srgbClr val="146E8A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1  CLIENT LAYER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React 18  +  TypeScript  +  Vite  +  Tailwind CSS  +  React Query  +  Zustand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52160" y="2240280"/>
            <a:ext cx="457200" cy="146304"/>
          </a:xfrm>
          <a:prstGeom prst="down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11064240" cy="914400"/>
          </a:xfrm>
          <a:prstGeom prst="roundRect">
            <a:avLst/>
          </a:prstGeom>
          <a:solidFill>
            <a:srgbClr val="0F5E7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2  GATEWAY LAYER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Nginx (reverse proxy, static assets, gzip, security headers)  +  Express BFF (rate limiting, CORS, WebSocket)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3319272"/>
            <a:ext cx="457200" cy="146304"/>
          </a:xfrm>
          <a:prstGeom prst="down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483864"/>
            <a:ext cx="11064240" cy="91440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3  BACKEND LAYER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Django 5.1  +  DRF  (6 apps: core, customers, pitches, campaigns, agents, analytics)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4398264"/>
            <a:ext cx="457200" cy="146304"/>
          </a:xfrm>
          <a:prstGeom prst="down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562856"/>
            <a:ext cx="11064240" cy="914400"/>
          </a:xfrm>
          <a:prstGeom prst="roundRect">
            <a:avLst/>
          </a:prstGeom>
          <a:solidFill>
            <a:srgbClr val="0A4255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4  AI / AGENT LAYER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FastMCP Server with 10 tools  |  Multi-Agent Pipeline (Research → Generator → Scorer → Refiner)  |  LangChain + OpenAI gpt-4o-mini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5477256"/>
            <a:ext cx="457200" cy="146304"/>
          </a:xfrm>
          <a:prstGeom prst="down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5641848"/>
            <a:ext cx="11064240" cy="914400"/>
          </a:xfrm>
          <a:prstGeom prst="roundRect">
            <a:avLst/>
          </a:prstGeom>
          <a:solidFill>
            <a:srgbClr val="083548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5  DATA LAYER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PostgreSQL 16  +  Redis 7 (cache, Celery broker, WebSocket channels)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AI Multi-Agent Pipeline (A2A Communication)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6607" y="1463040"/>
            <a:ext cx="2194560" cy="1371600"/>
          </a:xfrm>
          <a:prstGeom prst="roundRect">
            <a:avLst/>
          </a:prstGeom>
          <a:solidFill>
            <a:srgbClr val="0D7C85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Orchestrator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Receives pitch request</a:t>
            </a:r>
            <a:br/>
            <a:r>
              <a:t>and coordinates agents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86887" y="1965960"/>
            <a:ext cx="548640" cy="32004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81247" y="1463040"/>
            <a:ext cx="2194560" cy="1371600"/>
          </a:xfrm>
          <a:prstGeom prst="roundRect">
            <a:avLst/>
          </a:prstGeom>
          <a:solidFill>
            <a:srgbClr val="106B78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Research Agent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Gathers customer</a:t>
            </a:r>
            <a:br/>
            <a:r>
              <a:t>intelligence &amp; context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21527" y="1965960"/>
            <a:ext cx="548640" cy="32004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15887" y="1463040"/>
            <a:ext cx="2194560" cy="1371600"/>
          </a:xfrm>
          <a:prstGeom prst="roundRect">
            <a:avLst/>
          </a:prstGeom>
          <a:solidFill>
            <a:srgbClr val="135A6B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Pitch Generator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Creates personalized</a:t>
            </a:r>
            <a:br/>
            <a:r>
              <a:t>pitch content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56167" y="1965960"/>
            <a:ext cx="548640" cy="32004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50527" y="1463040"/>
            <a:ext cx="2194560" cy="1371600"/>
          </a:xfrm>
          <a:prstGeom prst="roundRect">
            <a:avLst/>
          </a:prstGeom>
          <a:solidFill>
            <a:srgbClr val="16495E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Scorer Agent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Evaluates persuasiveness,</a:t>
            </a:r>
            <a:br/>
            <a:r>
              <a:t>clarity, relevance (0–1)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200400"/>
            <a:ext cx="5760720" cy="1097280"/>
          </a:xfrm>
          <a:prstGeom prst="roundRect">
            <a:avLst/>
          </a:prstGeom>
          <a:solidFill>
            <a:srgbClr val="0A4255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SCORING DECISION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Score ≥ 0.7  →  APPROVED  – pitch delivered to user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Score &lt; 0.7  →  REFINER AGENT  – iterative improvement (max 3 iterations)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663440"/>
            <a:ext cx="7589520" cy="1005840"/>
          </a:xfrm>
          <a:prstGeom prst="roundRect">
            <a:avLst/>
          </a:prstGeom>
          <a:solidFill>
            <a:srgbClr val="143A6B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FINAL OUTPUT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Final pitch delivered with full audit trail  •  Version history  •  A2A message trace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4315968"/>
            <a:ext cx="457200" cy="320040"/>
          </a:xfrm>
          <a:prstGeom prst="down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F0C040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React 18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TypeScript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Vite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Tailwind CSS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React Query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Zustand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Recharts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Framer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F0C040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Django 5.1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Django REST Framework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Celery 5.4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PostgreSQL 16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Redis 7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LangChain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FastMCP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•  OpenAI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Docker Container Architecture (10 Services)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postgres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:5432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PostgreSQL 16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redis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:6379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Cache, Celery broker, WebSocket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7160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backend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:8064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Django 5.1 + DRF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2608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mcp-server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:8165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FastMCP AI tool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92608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celery-worker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3 queues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Async task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92608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celery-beat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scheduler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Periodic task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8056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flower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:5555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Celery monitoring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48056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bff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:4064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Express.js Backend-for-Frontend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480560"/>
            <a:ext cx="3383280" cy="128016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500" b="1">
                <a:solidFill>
                  <a:srgbClr val="F0C040"/>
                </a:solidFill>
              </a:defRPr>
            </a:pPr>
            <a:r>
              <a:t>frontend/nginx</a:t>
            </a:r>
          </a:p>
          <a:p>
            <a:pPr>
              <a:spcBef>
                <a:spcPts val="300"/>
              </a:spcBef>
              <a:defRPr sz="1300" b="1">
                <a:solidFill>
                  <a:srgbClr val="17A2AD"/>
                </a:solidFill>
              </a:defRPr>
            </a:pPr>
            <a:r>
              <a:t>:3064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React SPA + reverse 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A2AD"/>
                </a:solidFill>
              </a:defRPr>
            </a:pPr>
            <a:r>
              <a:t>All services on  pitch-network  bridge  •  Health checks configured on every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Request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37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(Browser)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850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953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Nginx</a:t>
            </a:r>
            <a:br/>
            <a:r>
              <a:t>:3064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566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669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BFF Express</a:t>
            </a:r>
            <a:br/>
            <a:r>
              <a:t>:4064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282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385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Django DRF</a:t>
            </a:r>
            <a:br/>
            <a:r>
              <a:t>:8064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98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01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Celery</a:t>
            </a:r>
            <a:br/>
            <a:r>
              <a:t>Worker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714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17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AgentService</a:t>
            </a:r>
            <a:br/>
            <a:r>
              <a:t>(LangChain)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430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33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MCP</a:t>
            </a:r>
            <a:br/>
            <a:r>
              <a:t>Tools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14635" y="2084831"/>
            <a:ext cx="201168" cy="274320"/>
          </a:xfrm>
          <a:prstGeom prst="rightArrow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24947" y="1828800"/>
            <a:ext cx="1143000" cy="868680"/>
          </a:xfrm>
          <a:prstGeom prst="roundRect">
            <a:avLst/>
          </a:prstGeom>
          <a:solidFill>
            <a:srgbClr val="0D5063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OpenAI</a:t>
            </a:r>
            <a:br/>
            <a: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74720"/>
            <a:ext cx="3200400" cy="109728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PostgreSQL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Results stored persistently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474720"/>
            <a:ext cx="3200400" cy="109728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Redis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Cached results &amp; session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029200"/>
            <a:ext cx="5760720" cy="822960"/>
          </a:xfrm>
          <a:prstGeom prst="roundRect">
            <a:avLst/>
          </a:prstGeom>
          <a:solidFill>
            <a:srgbClr val="0A4255"/>
          </a:solidFill>
          <a:ln w="19050">
            <a:solidFill>
              <a:srgbClr val="17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Real-time updates delivered via WebSocket (Django Channels + Redis)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7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102E50"/>
          </a:solidFill>
          <a:ln w="19050">
            <a:solidFill>
              <a:srgbClr val="0A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Customer 360° View with AI-enriched data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AI-powered pitch generation with scoring and iterative refinement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Multi-channel campaign management with A/B testing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Agent-to-Agent (A2A) communication with full audit trail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PDF / DOCX / TXT export for pitches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Real-time WebSocket updates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10 specialized MCP tools for AI operations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</a:defRPr>
            </a:pPr>
            <a:r>
              <a:t>✔   Comprehensive analytics and agent performance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